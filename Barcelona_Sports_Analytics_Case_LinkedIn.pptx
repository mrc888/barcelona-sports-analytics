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carrossel do case de Sports Analytics sobre a influência do modelo do Barcelona no futebol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rca_case_assets/child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ORIGEM</a:t>
            </a:r>
            <a:endParaRPr lang="en-US" sz="740" dirty="0"/>
          </a:p>
        </p:txBody>
      </p:sp>
      <p:sp>
        <p:nvSpPr>
          <p:cNvPr id="4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01</a:t>
            </a:r>
            <a:endParaRPr lang="en-US" sz="740" dirty="0"/>
          </a:p>
        </p:txBody>
      </p:sp>
      <p:sp>
        <p:nvSpPr>
          <p:cNvPr id="5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UM PROJETO QUE NASCEU ANTES DA FACULDADE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Tudo começou aqui.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02920" y="6291072"/>
            <a:ext cx="57607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ser dataset, SQL e Python, era só uma paixão: ver um time que parecia jogar outro esporte.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7360920"/>
            <a:ext cx="1188720" cy="0"/>
          </a:xfrm>
          <a:prstGeom prst="line">
            <a:avLst/>
          </a:prstGeom>
          <a:noFill/>
          <a:ln w="25400">
            <a:solidFill>
              <a:srgbClr val="EDB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749808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Barcelona → futebol → dados → pesquisa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A PERGUNTA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02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DE TORCEDOR PARA PESQUISADOR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Barcelona mudou o futebol?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E7EC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 foi apenas um grande time que venceu muito?</a:t>
            </a:r>
            <a:endParaRPr lang="en-US" sz="2300" dirty="0"/>
          </a:p>
        </p:txBody>
      </p:sp>
      <p:pic>
        <p:nvPicPr>
          <p:cNvPr id="8" name="Image 0" descr="/mnt/data/barca_case_assets/spainCollage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86200"/>
            <a:ext cx="6035040" cy="46817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310128"/>
            <a:ext cx="57150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Meu TCC nasceu dessa dúvida: transformar uma percepção histórica em uma investigação baseada em dados.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A PESQUISA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03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TEMA DO TCC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paixão ao método.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5806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Quantitativa da Influência do Modelo de Jogo do Barcelona na Evolução do Futebol Europeu.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566928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docx_render/pa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0392" y="3822192"/>
            <a:ext cx="1797217" cy="2542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Recorte: 2004/05 a 2019/20 • Sistemas de Informação • UNITAU</a:t>
            </a:r>
            <a:endParaRPr lang="en-US" sz="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DATASET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04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A BASE DA INVESTIGAÇÃO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dos gráficos, veio a base.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58064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dataset foi construído para comparar o Barcelona com ligas, campeões, rebaixados e Champions League no mesmo recorte temporal.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594360" y="3950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DBB00"/>
                </a:solidFill>
              </a:rPr>
              <a:t>18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94360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tabelas / abas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2468880" y="3950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8D6FF"/>
                </a:solidFill>
              </a:rPr>
              <a:t>288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468880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registros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4343400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DBB00"/>
                </a:solidFill>
              </a:rPr>
              <a:t>16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343400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temporadas por eixo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713232" y="56144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BB00"/>
                </a:solidFill>
              </a:rPr>
              <a:t>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5623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7ECF3"/>
                </a:solidFill>
              </a:rPr>
              <a:t>Barcelona como eixo central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960120" y="5980176"/>
            <a:ext cx="0" cy="292608"/>
          </a:xfrm>
          <a:prstGeom prst="line">
            <a:avLst/>
          </a:prstGeom>
          <a:noFill/>
          <a:ln w="12700">
            <a:solidFill>
              <a:srgbClr val="3140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63185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D6FF"/>
                </a:solidFill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6327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7ECF3"/>
                </a:solidFill>
              </a:rPr>
              <a:t>5 grandes ligas + Champions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960120" y="6684264"/>
            <a:ext cx="0" cy="292608"/>
          </a:xfrm>
          <a:prstGeom prst="line">
            <a:avLst/>
          </a:prstGeom>
          <a:noFill/>
          <a:ln w="12700">
            <a:solidFill>
              <a:srgbClr val="3140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7022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D6FF"/>
                </a:solidFill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71600" y="70317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7ECF3"/>
                </a:solidFill>
              </a:rPr>
              <a:t>campeões, médias e rebaixados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Fonte: Dataset próprio da pesquisa.</a:t>
            </a:r>
            <a:endParaRPr lang="en-US" sz="7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PIPELINE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05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COMO A HIPÓTESE VIROU ANÁLISE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Opinião não bastava.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58064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passou por um fluxo técnico: coleta, padronização, banco, validação, análise e visualização.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D6FF"/>
                </a:solidFill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36210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7ECF3"/>
                </a:solidFill>
              </a:rPr>
              <a:t>Excel / CSV — organização inicial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960120" y="3977640"/>
            <a:ext cx="0" cy="292608"/>
          </a:xfrm>
          <a:prstGeom prst="line">
            <a:avLst/>
          </a:prstGeom>
          <a:noFill/>
          <a:ln w="12700">
            <a:solidFill>
              <a:srgbClr val="3140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3159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D6FF"/>
                </a:solidFill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71600" y="43251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7ECF3"/>
                </a:solidFill>
              </a:rPr>
              <a:t>PostgreSQL + SQL — validação e análise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960120" y="4681728"/>
            <a:ext cx="0" cy="292608"/>
          </a:xfrm>
          <a:prstGeom prst="line">
            <a:avLst/>
          </a:prstGeom>
          <a:noFill/>
          <a:ln w="12700">
            <a:solidFill>
              <a:srgbClr val="3140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50200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D6FF"/>
                </a:solidFill>
              </a:rPr>
              <a:t>03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5029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7ECF3"/>
                </a:solidFill>
              </a:rPr>
              <a:t>Python — gráficos e storytelling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960120" y="5385816"/>
            <a:ext cx="0" cy="292608"/>
          </a:xfrm>
          <a:prstGeom prst="line">
            <a:avLst/>
          </a:prstGeom>
          <a:noFill/>
          <a:ln w="12700">
            <a:solidFill>
              <a:srgbClr val="3140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57241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D6FF"/>
                </a:solidFill>
              </a:rPr>
              <a:t>04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57332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7ECF3"/>
                </a:solidFill>
              </a:rPr>
              <a:t>Manuscrito — interpretação dos resultados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566928" y="7150608"/>
            <a:ext cx="5715000" cy="402336"/>
          </a:xfrm>
          <a:prstGeom prst="rect">
            <a:avLst/>
          </a:prstGeom>
          <a:solidFill>
            <a:srgbClr val="151F33"/>
          </a:solidFill>
          <a:ln w="12700">
            <a:solidFill>
              <a:srgbClr val="151F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7278624"/>
            <a:ext cx="5349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EDBB00"/>
                </a:solidFill>
              </a:rPr>
              <a:t>SQL encontra padrões. Python mostra padrões. O texto interpreta padrões.</a:t>
            </a:r>
            <a:endParaRPr lang="en-US" sz="8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RESULTADO 1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06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BARCELONA: O PICO DO CONTROLE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controle atingiu o auge com Guardiola.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" y="2002536"/>
            <a:ext cx="5907024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/mnt/data/figs_revised/figura_01_barcelona_po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606" y="2029968"/>
            <a:ext cx="5744789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212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DBB00"/>
                </a:solidFill>
              </a:rPr>
              <a:t>69%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94360" y="5779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maior posse do recorte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2834640" y="5212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8D6FF"/>
                </a:solidFill>
              </a:rPr>
              <a:t>685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2834640" y="5779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passes médios no pico</a:t>
            </a:r>
            <a:endParaRPr lang="en-US" sz="77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58064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salto em posse e passes mostra uma equipe que transformou circulação em mecanismo de controle.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Gráfico: evolução da posse do Barcelona, 2004/05–2019/20.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RESULTADO 2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07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BARCELONA VS ESPANHA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Não era só melhor. Era diferente.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75488" y="2020824"/>
            <a:ext cx="5907024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/mnt/data/figs_revised/figura_06_barcelona_vs_espanha_po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048" y="2048256"/>
            <a:ext cx="5655904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212080"/>
            <a:ext cx="58064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Barcelona permaneceu acima da média espanhola em posse e passes durante todo o período analisado.</a:t>
            </a:r>
            <a:endParaRPr lang="en-US" sz="1360" dirty="0"/>
          </a:p>
        </p:txBody>
      </p:sp>
      <p:sp>
        <p:nvSpPr>
          <p:cNvPr id="10" name="Shape 7"/>
          <p:cNvSpPr/>
          <p:nvPr/>
        </p:nvSpPr>
        <p:spPr>
          <a:xfrm>
            <a:off x="502920" y="6428232"/>
            <a:ext cx="1554480" cy="0"/>
          </a:xfrm>
          <a:prstGeom prst="line">
            <a:avLst/>
          </a:prstGeom>
          <a:noFill/>
          <a:ln w="25400">
            <a:solidFill>
              <a:srgbClr val="EDB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601968"/>
            <a:ext cx="5806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DB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clube não acompanhou uma tendência. Ele virou o ponto fora da curva.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Gráfico: posse de bola, Barcelona vs média da Espanha.</a:t>
            </a:r>
            <a:endParaRPr lang="en-US" sz="7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RESULTADO 3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08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CONTROLE COMO REGULARIDADE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Ligas premiam consistência.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475488" y="2002536"/>
            <a:ext cx="5907024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/mnt/data/figs_revised/figura_08_campeoes_rebaixados_po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22" y="2029968"/>
            <a:ext cx="5298156" cy="2615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074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DBB00"/>
                </a:solidFill>
              </a:rPr>
              <a:t>58,3%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94360" y="5641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posse média dos campeões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2907792" y="5074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8D6FF"/>
                </a:solidFill>
              </a:rPr>
              <a:t>45,3%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2907792" y="5641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posse média dos rebaixados</a:t>
            </a:r>
            <a:endParaRPr lang="en-US" sz="77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5806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pontos corridos, controlar mais o jogo tende a reduzir a dependência de eventos isolados.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Comparação agregada das cinco grandes ligas no recorte.</a:t>
            </a:r>
            <a:endParaRPr lang="en-US" sz="7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RESULTADO 4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09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A INFLUÊNCIA ULTRAPASSOU A ESPANHA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padrão se espalhou pela Europa.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75488" y="2020824"/>
            <a:ext cx="5907024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/mnt/data/figs_revised/figura_10_posse_campeoes_li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9" y="2048256"/>
            <a:ext cx="5690023" cy="2761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285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DBB00"/>
                </a:solidFill>
              </a:rPr>
              <a:t>72/80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94360" y="5852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campeões em alta ou muito alta posse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502920" y="6492240"/>
            <a:ext cx="58064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influência aparece como absorção de princípios: bola, espaço, construção e controle.</a:t>
            </a:r>
            <a:endParaRPr lang="en-US" sz="1330" dirty="0"/>
          </a:p>
        </p:txBody>
      </p:sp>
      <p:sp>
        <p:nvSpPr>
          <p:cNvPr id="12" name="Text 9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Base: campeões das cinco grandes ligas, 2004/05–2019/20.</a:t>
            </a:r>
            <a:endParaRPr lang="en-US" sz="7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RESULTADO 5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10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INFLUÊNCIA NÃO É CÓPIA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futebol também criou antídotos.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75488" y="1984248"/>
            <a:ext cx="5907024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/mnt/data/figs_revised/figura_13_top10_menor_po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45" y="2011680"/>
            <a:ext cx="5078511" cy="2487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901184"/>
            <a:ext cx="580644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Alguns campeões venceram sem posse dominante: organização defensiva, transição, eficiência e adaptação também vencem.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6446520"/>
            <a:ext cx="1463040" cy="0"/>
          </a:xfrm>
          <a:prstGeom prst="line">
            <a:avLst/>
          </a:prstGeom>
          <a:noFill/>
          <a:ln w="25400">
            <a:solidFill>
              <a:srgbClr val="EDB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601968"/>
            <a:ext cx="5806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DB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ideia só gera respostas quando se torna grande o bastante para obrigar o jogo a se adaptar.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Gráfico: campeões com menor posse no recorte.</a:t>
            </a:r>
            <a:endParaRPr lang="en-US" sz="7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RESULTADO 6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11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CHAMPIONS LEAGUE: OUTRO TIPO DE LÓGICA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Mata-mata não premia só controle.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75488" y="2002536"/>
            <a:ext cx="5907024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/mnt/data/figs_revised/figura_17_champions_diferenca_po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43" y="2029968"/>
            <a:ext cx="5390313" cy="2615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138928"/>
            <a:ext cx="58064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Champions, eficiência situacional pode se sobrepor ao domínio estatístico. Influência e resultado precisam ser separados.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594360" y="64190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DBB00"/>
                </a:solidFill>
              </a:rPr>
              <a:t>+7,8 p.p.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94360" y="69860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Barcelona 2010/11 vs semifinalistas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3822192" y="641908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8D6FF"/>
                </a:solidFill>
              </a:rPr>
              <a:t>-7,0 p.p.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822192" y="69860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AB4C3"/>
                </a:solidFill>
              </a:rPr>
              <a:t>Inter 2009/10 vs semifinalistas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Diferença de posse do campeão para a média dos semifinalistas.</a:t>
            </a:r>
            <a:endParaRPr lang="en-US" sz="7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LEGADO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12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2012 → 2026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Duas gerações. A mesma discussão.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58064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Espanha atual não é o Barcelona de Guardiola. Mas a escola do controle, da técnica e da ocupação dos espaços segue viva no debate sobre o futebol moderno.</a:t>
            </a:r>
            <a:endParaRPr lang="en-US" sz="1280" dirty="0"/>
          </a:p>
        </p:txBody>
      </p:sp>
      <p:pic>
        <p:nvPicPr>
          <p:cNvPr id="8" name="Image 0" descr="/mnt/data/barca_case_assets/spainCollage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0"/>
            <a:ext cx="6035040" cy="46817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3291840"/>
            <a:ext cx="1417320" cy="0"/>
          </a:xfrm>
          <a:prstGeom prst="line">
            <a:avLst/>
          </a:prstGeom>
          <a:noFill/>
          <a:ln w="25400">
            <a:solidFill>
              <a:srgbClr val="EDB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456432"/>
            <a:ext cx="5806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DB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legado está nas perguntas que aquele time criou.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CASE DE PORTFÓLIO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6172200" y="274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AAB4C3"/>
                </a:solidFill>
              </a:rPr>
              <a:t>13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6035040" cy="0"/>
          </a:xfrm>
          <a:prstGeom prst="line">
            <a:avLst/>
          </a:prstGeom>
          <a:noFill/>
          <a:ln w="8255">
            <a:solidFill>
              <a:srgbClr val="24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95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DBB00"/>
                </a:solidFill>
              </a:rPr>
              <a:t>SPORTS ANALYTICS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Barcelona não apenas venceu.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5806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BB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Mudou a forma como o futebol é pensado.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4846320"/>
            <a:ext cx="58064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E7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projeto buscou provar isso com dados: dataset próprio, SQL documentado, visualizações em Python e um manuscrito acadêmico completo.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502920" y="6272784"/>
            <a:ext cx="1554480" cy="0"/>
          </a:xfrm>
          <a:prstGeom prst="line">
            <a:avLst/>
          </a:prstGeom>
          <a:noFill/>
          <a:ln w="25400">
            <a:solidFill>
              <a:srgbClr val="EDB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46520"/>
            <a:ext cx="5806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completo no GitHub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931152"/>
            <a:ext cx="5806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• dataset • SQL • Python • gráficos • manuscrito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79735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AB4C3"/>
                </a:solidFill>
              </a:rPr>
              <a:t>Marcelo Augusto Pereira Santos • Bacharelado em Sistemas de Informação • UNITAU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Barcelona mudou o futebol?</dc:title>
  <dc:subject>Case de Sports Analytics - Barcelona</dc:subject>
  <dc:creator>Marcelo Augusto Pereira Santos</dc:creator>
  <cp:lastModifiedBy>Marcelo Augusto Pereira Santos</cp:lastModifiedBy>
  <cp:revision>1</cp:revision>
  <dcterms:created xsi:type="dcterms:W3CDTF">2026-07-21T17:29:06Z</dcterms:created>
  <dcterms:modified xsi:type="dcterms:W3CDTF">2026-07-21T17:29:06Z</dcterms:modified>
</cp:coreProperties>
</file>